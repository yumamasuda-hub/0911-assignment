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20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7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icons/seedl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84632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6007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細胞、分裂中につき壁を建設中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841248"/>
            <a:ext cx="600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膜交通――生き物共通の宅配便システムが、新しい部屋の壁をつくる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6647688" cy="1965960"/>
          </a:xfrm>
          <a:prstGeom prst="roundRect">
            <a:avLst>
              <a:gd name="adj" fmla="val 4651"/>
            </a:avLst>
          </a:prstGeom>
          <a:solidFill>
            <a:srgbClr val="E4EE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1545336"/>
            <a:ext cx="6190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細胞の宅配便システム（動物も植物も酵母もほぼ共通</a:t>
            </a: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60120" y="192024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icons/factory_2C5F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" y="2060143"/>
            <a:ext cx="341986" cy="34198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60120" y="1920240"/>
            <a:ext cx="621792" cy="621792"/>
          </a:xfrm>
          <a:prstGeom prst="ellipse">
            <a:avLst/>
          </a:prstGeom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 txBox="1"/>
          <p:nvPr/>
        </p:nvSpPr>
        <p:spPr>
          <a:xfrm>
            <a:off x="594360" y="25968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小胞体（ER）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27889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材料をつくる工場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108960" y="192024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icons/sort_2C5F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863" y="2060143"/>
            <a:ext cx="341986" cy="34198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108960" y="1920240"/>
            <a:ext cx="621792" cy="621792"/>
          </a:xfrm>
          <a:prstGeom prst="ellipse">
            <a:avLst/>
          </a:prstGeom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 txBox="1"/>
          <p:nvPr/>
        </p:nvSpPr>
        <p:spPr>
          <a:xfrm>
            <a:off x="2743200" y="25968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ゴルジ体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743200" y="27889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仕分けセンター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5257800" y="192024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3" descr="icons/truck_E08A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703" y="2060143"/>
            <a:ext cx="341986" cy="34198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257800" y="1920240"/>
            <a:ext cx="621792" cy="621792"/>
          </a:xfrm>
          <a:prstGeom prst="ellipse">
            <a:avLst/>
          </a:prstGeom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5"/>
          <p:cNvSpPr txBox="1"/>
          <p:nvPr/>
        </p:nvSpPr>
        <p:spPr>
          <a:xfrm>
            <a:off x="4892040" y="25968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小胞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27889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配達トラック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1636776" y="2148840"/>
            <a:ext cx="1417320" cy="164592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8"/>
          <p:cNvSpPr/>
          <p:nvPr/>
        </p:nvSpPr>
        <p:spPr>
          <a:xfrm>
            <a:off x="3785616" y="2148840"/>
            <a:ext cx="1417320" cy="164592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9"/>
          <p:cNvSpPr txBox="1"/>
          <p:nvPr/>
        </p:nvSpPr>
        <p:spPr>
          <a:xfrm>
            <a:off x="685800" y="3035808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COPII・SNAREなどの部品を使い、真核生物はほぼ同じ仕組みで荷物を配達している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3566160"/>
            <a:ext cx="6647688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1"/>
          <p:cNvSpPr txBox="1"/>
          <p:nvPr/>
        </p:nvSpPr>
        <p:spPr>
          <a:xfrm>
            <a:off x="457200" y="3566160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今日の配達現場：細胞分裂で「新しい壁」をつくる（植物の例）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57200" y="4114800"/>
            <a:ext cx="2106168" cy="3566160"/>
          </a:xfrm>
          <a:prstGeom prst="roundRect">
            <a:avLst>
              <a:gd name="adj" fmla="val 3473"/>
            </a:avLst>
          </a:prstGeom>
          <a:solidFill>
            <a:srgbClr val="F4F8F1"/>
          </a:solidFill>
          <a:ln w="9525">
            <a:solidFill>
              <a:srgbClr val="6E9B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3"/>
          <p:cNvSpPr/>
          <p:nvPr/>
        </p:nvSpPr>
        <p:spPr>
          <a:xfrm>
            <a:off x="621792" y="4279392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4"/>
          <p:cNvSpPr txBox="1"/>
          <p:nvPr/>
        </p:nvSpPr>
        <p:spPr>
          <a:xfrm>
            <a:off x="62179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1024128" y="4297680"/>
            <a:ext cx="137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分裂スタート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13232" y="4709160"/>
            <a:ext cx="1594104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7"/>
          <p:cNvSpPr/>
          <p:nvPr/>
        </p:nvSpPr>
        <p:spPr>
          <a:xfrm>
            <a:off x="1354836" y="4910328"/>
            <a:ext cx="310896" cy="310896"/>
          </a:xfrm>
          <a:prstGeom prst="ellipse">
            <a:avLst/>
          </a:prstGeom>
          <a:solidFill>
            <a:srgbClr val="6E9B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28"/>
          <p:cNvSpPr/>
          <p:nvPr/>
        </p:nvSpPr>
        <p:spPr>
          <a:xfrm>
            <a:off x="1354836" y="5943600"/>
            <a:ext cx="310896" cy="310896"/>
          </a:xfrm>
          <a:prstGeom prst="ellipse">
            <a:avLst/>
          </a:prstGeom>
          <a:solidFill>
            <a:srgbClr val="6E9B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9"/>
          <p:cNvSpPr/>
          <p:nvPr/>
        </p:nvSpPr>
        <p:spPr>
          <a:xfrm>
            <a:off x="1510284" y="4846320"/>
            <a:ext cx="0" cy="1463040"/>
          </a:xfrm>
          <a:prstGeom prst="line">
            <a:avLst/>
          </a:prstGeom>
          <a:noFill/>
          <a:ln w="19050">
            <a:solidFill>
              <a:srgbClr val="E08A1E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4" descr="icons/truck_E08A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980" y="4754880"/>
            <a:ext cx="274320" cy="274320"/>
          </a:xfrm>
          <a:prstGeom prst="rect">
            <a:avLst/>
          </a:prstGeom>
        </p:spPr>
      </p:pic>
      <p:pic>
        <p:nvPicPr>
          <p:cNvPr id="37" name="Image 5" descr="icons/truck_E08A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363980" y="612648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40080" y="6629400"/>
            <a:ext cx="1740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細胞が2つに分かれる準備。真ん中に新しい壁の材料を積んだトラックが集まってくる。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2727960" y="4114800"/>
            <a:ext cx="2106168" cy="3566160"/>
          </a:xfrm>
          <a:prstGeom prst="roundRect">
            <a:avLst>
              <a:gd name="adj" fmla="val 3473"/>
            </a:avLst>
          </a:prstGeom>
          <a:solidFill>
            <a:srgbClr val="F4F8F1"/>
          </a:solidFill>
          <a:ln w="9525">
            <a:solidFill>
              <a:srgbClr val="6E9B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2"/>
          <p:cNvSpPr/>
          <p:nvPr/>
        </p:nvSpPr>
        <p:spPr>
          <a:xfrm>
            <a:off x="2892552" y="4279392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289255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3294888" y="4297680"/>
            <a:ext cx="137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壁を建設中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2983992" y="4709160"/>
            <a:ext cx="1594104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36"/>
          <p:cNvSpPr/>
          <p:nvPr/>
        </p:nvSpPr>
        <p:spPr>
          <a:xfrm>
            <a:off x="3625596" y="4910328"/>
            <a:ext cx="310896" cy="310896"/>
          </a:xfrm>
          <a:prstGeom prst="ellipse">
            <a:avLst/>
          </a:prstGeom>
          <a:solidFill>
            <a:srgbClr val="6E9B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37"/>
          <p:cNvSpPr/>
          <p:nvPr/>
        </p:nvSpPr>
        <p:spPr>
          <a:xfrm>
            <a:off x="3625596" y="5943600"/>
            <a:ext cx="310896" cy="310896"/>
          </a:xfrm>
          <a:prstGeom prst="ellipse">
            <a:avLst/>
          </a:prstGeom>
          <a:solidFill>
            <a:srgbClr val="6E9B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38"/>
          <p:cNvSpPr/>
          <p:nvPr/>
        </p:nvSpPr>
        <p:spPr>
          <a:xfrm>
            <a:off x="3707892" y="5186934"/>
            <a:ext cx="146304" cy="78181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7" name="Image 6" descr="icons/link_2C5F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2172" y="4985766"/>
            <a:ext cx="237744" cy="237744"/>
          </a:xfrm>
          <a:prstGeom prst="rect">
            <a:avLst/>
          </a:prstGeom>
        </p:spPr>
      </p:pic>
      <p:pic>
        <p:nvPicPr>
          <p:cNvPr id="48" name="Image 7" descr="icons/link_2C5F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2172" y="5932170"/>
            <a:ext cx="237744" cy="23774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3323844" y="6190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KNOLLE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2910840" y="6629400"/>
            <a:ext cx="1740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SNARE分子KNOLLEが受け皿になり、トラック同士が次々とドッキング・合体する。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4998720" y="4114800"/>
            <a:ext cx="2106168" cy="3566160"/>
          </a:xfrm>
          <a:prstGeom prst="roundRect">
            <a:avLst>
              <a:gd name="adj" fmla="val 3473"/>
            </a:avLst>
          </a:prstGeom>
          <a:solidFill>
            <a:srgbClr val="F4F8F1"/>
          </a:solidFill>
          <a:ln w="9525">
            <a:solidFill>
              <a:srgbClr val="6E9B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42"/>
          <p:cNvSpPr/>
          <p:nvPr/>
        </p:nvSpPr>
        <p:spPr>
          <a:xfrm>
            <a:off x="5163312" y="4279392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43"/>
          <p:cNvSpPr txBox="1"/>
          <p:nvPr/>
        </p:nvSpPr>
        <p:spPr>
          <a:xfrm>
            <a:off x="516331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4" name="Text 44"/>
          <p:cNvSpPr txBox="1"/>
          <p:nvPr/>
        </p:nvSpPr>
        <p:spPr>
          <a:xfrm>
            <a:off x="5565648" y="4297680"/>
            <a:ext cx="137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壁が完成</a:t>
            </a:r>
            <a:endParaRPr lang="en-US" sz="1200" dirty="0"/>
          </a:p>
        </p:txBody>
      </p:sp>
      <p:sp>
        <p:nvSpPr>
          <p:cNvPr id="55" name="Shape 45"/>
          <p:cNvSpPr/>
          <p:nvPr/>
        </p:nvSpPr>
        <p:spPr>
          <a:xfrm>
            <a:off x="5254752" y="4709160"/>
            <a:ext cx="1594104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46"/>
          <p:cNvSpPr/>
          <p:nvPr/>
        </p:nvSpPr>
        <p:spPr>
          <a:xfrm>
            <a:off x="5978652" y="4754880"/>
            <a:ext cx="146304" cy="16459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47"/>
          <p:cNvSpPr/>
          <p:nvPr/>
        </p:nvSpPr>
        <p:spPr>
          <a:xfrm>
            <a:off x="5529712" y="5422392"/>
            <a:ext cx="310896" cy="310896"/>
          </a:xfrm>
          <a:prstGeom prst="ellipse">
            <a:avLst/>
          </a:prstGeom>
          <a:solidFill>
            <a:srgbClr val="6E9B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48"/>
          <p:cNvSpPr/>
          <p:nvPr/>
        </p:nvSpPr>
        <p:spPr>
          <a:xfrm>
            <a:off x="6263000" y="5422392"/>
            <a:ext cx="310896" cy="310896"/>
          </a:xfrm>
          <a:prstGeom prst="ellipse">
            <a:avLst/>
          </a:prstGeom>
          <a:solidFill>
            <a:srgbClr val="6E9B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9" name="Image 8" descr="icons/check_2C5F2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4644" y="4562856"/>
            <a:ext cx="274320" cy="274320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5181600" y="6629400"/>
            <a:ext cx="1740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新しい細胞壁が完成し、細胞は無事に2つへ分かれる。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457200" y="7863840"/>
            <a:ext cx="6647688" cy="1005840"/>
          </a:xfrm>
          <a:prstGeom prst="roundRect">
            <a:avLst>
              <a:gd name="adj" fmla="val 7273"/>
            </a:avLst>
          </a:prstGeom>
          <a:solidFill>
            <a:srgbClr val="FBE1D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51"/>
          <p:cNvSpPr/>
          <p:nvPr/>
        </p:nvSpPr>
        <p:spPr>
          <a:xfrm>
            <a:off x="658368" y="81153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3" name="Image 9" descr="icons/warn_C039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379" y="8203311"/>
            <a:ext cx="326898" cy="326898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1325880" y="8001000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もしKNOLLEが無かったら？</a:t>
            </a:r>
            <a:endParaRPr lang="en-US" sz="1250" dirty="0"/>
          </a:p>
        </p:txBody>
      </p:sp>
      <p:sp>
        <p:nvSpPr>
          <p:cNvPr id="65" name="Text 53"/>
          <p:cNvSpPr txBox="1"/>
          <p:nvPr/>
        </p:nvSpPr>
        <p:spPr>
          <a:xfrm>
            <a:off x="1325880" y="8275320"/>
            <a:ext cx="5550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トラックが目的地でうまくドッキングできず、壁が完成しない。結果、仕切りのない「多核細胞」になってしまう（Lukowitz et al., 1996 Cell）。</a:t>
            </a:r>
            <a:endParaRPr lang="en-US" sz="1000" dirty="0"/>
          </a:p>
        </p:txBody>
      </p:sp>
      <p:sp>
        <p:nvSpPr>
          <p:cNvPr id="66" name="Shape 54"/>
          <p:cNvSpPr/>
          <p:nvPr/>
        </p:nvSpPr>
        <p:spPr>
          <a:xfrm>
            <a:off x="457200" y="9052560"/>
            <a:ext cx="6647688" cy="68580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7" name="Image 10" descr="icons/seedl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9240012"/>
            <a:ext cx="310896" cy="310896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1188720" y="9052560"/>
            <a:ext cx="5641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膜交通は生き物共通の標準装備。植物はそれを使って、分裂のたびに新しい壁をイチから建てている。</a:t>
            </a:r>
            <a:endParaRPr lang="en-US" sz="1300" dirty="0"/>
          </a:p>
        </p:txBody>
      </p:sp>
      <p:sp>
        <p:nvSpPr>
          <p:cNvPr id="69" name="Text 56"/>
          <p:cNvSpPr txBox="1"/>
          <p:nvPr/>
        </p:nvSpPr>
        <p:spPr>
          <a:xfrm>
            <a:off x="457200" y="9866376"/>
            <a:ext cx="6647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※本資料は上田貴志先生の講義資料（大阪大学 集中講義 2026.9.10-11）の内容をもとに、要約・構成・作図についてClaude（Anthropic）の支援を得て作成しました。</a:t>
            </a:r>
            <a:endParaRPr lang="en-US" sz="780" dirty="0"/>
          </a:p>
        </p:txBody>
      </p:sp>
      <p:sp>
        <p:nvSpPr>
          <p:cNvPr id="70" name="Text 57"/>
          <p:cNvSpPr txBox="1"/>
          <p:nvPr/>
        </p:nvSpPr>
        <p:spPr>
          <a:xfrm>
            <a:off x="457200" y="10085832"/>
            <a:ext cx="6647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出典：Lukowitz et al. (1996) Cell／Lauber et al. (1997) J. Cell Biol.／Bonifacino &amp; Glick (2004) Cell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ユーザー設定</PresentationFormat>
  <Paragraphs>27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MASUDA Yuma</cp:lastModifiedBy>
  <cp:revision>2</cp:revision>
  <dcterms:created xsi:type="dcterms:W3CDTF">2026-09-11T06:58:21Z</dcterms:created>
  <dcterms:modified xsi:type="dcterms:W3CDTF">2026-09-11T07:00:22Z</dcterms:modified>
</cp:coreProperties>
</file>